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1A365D"/>
                </a:solidFill>
                <a:latin typeface="Calibri"/>
              </a:defRPr>
            </a:pPr>
            <a:r>
              <a:t>ResiliForma: Deterministic Multi-Hazard Design Screening Extension for Autodesk Forma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0"/>
              </a:spcAft>
              <a:defRPr sz="1200" b="0">
                <a:solidFill>
                  <a:srgbClr val="0E7490"/>
                </a:solidFill>
                <a:latin typeface="Calibri"/>
              </a:defRPr>
            </a:pPr>
            <a:r>
              <a:t>Early-Stage Multi-Hazard Decision Support Co-Pilot for Sustainable Smart City Site Planning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011680"/>
            <a:ext cx="6400800" cy="4389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Problem Statement ID – </a:t>
            </a:r>
            <a:r>
              <a:rPr b="1" sz="1150">
                <a:solidFill>
                  <a:srgbClr val="0369A1"/>
                </a:solidFill>
                <a:latin typeface="Calibri"/>
              </a:rPr>
              <a:t>SIH26114</a:t>
            </a:r>
            <a:endParaRPr lang="en-US" dirty="0"/>
          </a:p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Problem Statement Title – </a:t>
            </a:r>
            <a:r>
              <a:rPr b="0" sz="1150">
                <a:solidFill>
                  <a:srgbClr val="1E293B"/>
                </a:solidFill>
                <a:latin typeface="Calibri"/>
              </a:rPr>
              <a:t>Smart City Site Planning using Autodesk Forma Site Design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Theme – </a:t>
            </a:r>
            <a:r>
              <a:rPr b="0" sz="1150">
                <a:solidFill>
                  <a:srgbClr val="1E293B"/>
                </a:solidFill>
                <a:latin typeface="Calibri"/>
              </a:rPr>
              <a:t>Smart Cities / Sustainable Infrastructure &amp; Urban Planning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PS Category – </a:t>
            </a:r>
            <a:r>
              <a:rPr b="0" sz="1150">
                <a:solidFill>
                  <a:srgbClr val="1E293B"/>
                </a:solidFill>
                <a:latin typeface="Calibri"/>
              </a:rPr>
              <a:t>Software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Team Name – </a:t>
            </a:r>
            <a:r>
              <a:rPr b="1" sz="1150">
                <a:solidFill>
                  <a:srgbClr val="0369A1"/>
                </a:solidFill>
                <a:latin typeface="Calibri"/>
              </a:rPr>
              <a:t>Jenisia-Tech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Target Organization – </a:t>
            </a:r>
            <a:r>
              <a:rPr b="0" sz="1150">
                <a:solidFill>
                  <a:srgbClr val="1E293B"/>
                </a:solidFill>
                <a:latin typeface="Calibri"/>
              </a:rPr>
              <a:t>Autodesk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Institution – </a:t>
            </a:r>
            <a:r>
              <a:rPr b="0" sz="1150">
                <a:solidFill>
                  <a:srgbClr val="1E293B"/>
                </a:solidFill>
                <a:latin typeface="Calibri"/>
              </a:rPr>
              <a:t>Karunya Institute of Technology and Sciences, Coimbatore, Tamil Nadu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Team Leader – </a:t>
            </a:r>
            <a:r>
              <a:rPr b="0" sz="1150">
                <a:solidFill>
                  <a:srgbClr val="1E293B"/>
                </a:solidFill>
                <a:latin typeface="Calibri"/>
              </a:rPr>
              <a:t>Chris David Raj A (Computer Science &amp; Engineering)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50">
                <a:solidFill>
                  <a:srgbClr val="1A365D"/>
                </a:solidFill>
                <a:latin typeface="Calibri"/>
              </a:rPr>
              <a:t>Team Members – </a:t>
            </a:r>
            <a:r>
              <a:rPr b="0" sz="1150">
                <a:solidFill>
                  <a:srgbClr val="1E293B"/>
                </a:solidFill>
                <a:latin typeface="Calibri"/>
              </a:rPr>
              <a:t>Jenisia Mary, Harry Joseph, Chandy N Jomon, Jeffrey, Kenrich Gladson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IDEA TITLE: ResiliForma (Multi-Hazard Screening Extension)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1. Proposed Solution (Idea / Solution / Prototype)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ResiliForma Core Concept: </a:t>
            </a:r>
            <a:r>
              <a:rPr b="0" sz="1100">
                <a:solidFill>
                  <a:srgbClr val="334155"/>
                </a:solidFill>
                <a:latin typeface="Calibri"/>
              </a:rPr>
              <a:t>An early-stage deterministic screening extension designed to operate natively alongside Autodesk Forma Site Design (SIH26114). It evaluates 3 critical environmental hazards in real time: Road Traffic Noise, Façade Solar Irradiance, and Stormwater Runoff.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Demonstration Site: </a:t>
            </a:r>
            <a:r>
              <a:rPr b="0" sz="1100">
                <a:solidFill>
                  <a:srgbClr val="334155"/>
                </a:solidFill>
                <a:latin typeface="Calibri"/>
              </a:rPr>
              <a:t>Evaluated on a 1.2 km² (120 ha) smart city benchmark in Karunya Nagar, Coimbatore South (10.9366° N, 76.7441° E, 26 building blocks along NH-544 / Siruvani Road arterial corridor).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2. Detailed Explanation of the Proposed Solution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Direct Forma Ingestion: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Reads site boundaries, building massing polygons, setbacks, and road network coordinates directly from Autodesk Forma via REST / Web SDK serialization.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Sub-50ms Deterministic Engine: </a:t>
            </a:r>
            <a:r>
              <a:rPr b="0" sz="1100">
                <a:solidFill>
                  <a:srgbClr val="334155"/>
                </a:solidFill>
                <a:latin typeface="Calibri"/>
              </a:rPr>
              <a:t>Executes physics-informed equations (FastAPI + NumPy) in milliseconds, eliminating slow cloud CFD/Radiance queue delays during conceptual sketching.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Composite Scoring (0–100): </a:t>
            </a:r>
            <a:r>
              <a:rPr b="0" sz="1100">
                <a:solidFill>
                  <a:srgbClr val="334155"/>
                </a:solidFill>
                <a:latin typeface="Calibri"/>
              </a:rPr>
              <a:t>Generates an objective resilience score comparing Baseline vs. Resilient proposals side-by-side with full sub-metric parameter transparency.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3. How It Addresses the Problem &amp; Innovation / Uniqueness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Solves Simulation Latency Gap: </a:t>
            </a:r>
            <a:r>
              <a:rPr b="0" sz="1100">
                <a:solidFill>
                  <a:srgbClr val="334155"/>
                </a:solidFill>
                <a:latin typeface="Calibri"/>
              </a:rPr>
              <a:t>Enables architects to explore trade-offs before building orientations and civil infrastructure layouts are locked in.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Interactive Mitigation Levers: </a:t>
            </a:r>
            <a:r>
              <a:rPr b="0" sz="1100">
                <a:solidFill>
                  <a:srgbClr val="334155"/>
                </a:solidFill>
                <a:latin typeface="Calibri"/>
              </a:rPr>
              <a:t>Provides real-time sliders for acoustic berms (1–5m), vegetative buffers (2–15m), louvers (0.5–2m), orientation tuning (±30°), bioswales (100–1000m), and retention ponds (1,000–12,000 m³).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Dual Domain Modes &amp; Forma Verification: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Includes 'Transit-Sanctum' (acoustic priority) and 'Eco-Retention' (stormwater priority) modes, plus an integrated Forma Native Analysis Verification Checklist (Wind, Daylight, Embodied Carbon).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Jenisia-Tech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TECHNICAL APPROACH &amp; ARCHITECTURE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</a:p>
          <a:p>
            <a:pPr>
              <a:spcBef>
                <a:spcPts val="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1. Technologies Used (Full-Stack Architecture)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Frontend Client Layer: </a:t>
            </a:r>
            <a:r>
              <a:rPr b="0" sz="1100">
                <a:solidFill>
                  <a:srgbClr val="334155"/>
                </a:solidFill>
                <a:latin typeface="Calibri"/>
              </a:rPr>
              <a:t>React 18, TypeScript, Vite, SVG 2.5D Spatial Canvas, TailwindCSS &amp; modern glassmorphic UI; responsive iframe extension embedded within Autodesk Forma.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Deterministic Backend Engine: </a:t>
            </a:r>
            <a:r>
              <a:rPr b="0" sz="1100">
                <a:solidFill>
                  <a:srgbClr val="334155"/>
                </a:solidFill>
                <a:latin typeface="Calibri"/>
              </a:rPr>
              <a:t>Python 3.11, FastAPI, Pydantic v2 schemas, NumPy matrix math, Uvicorn ASGI server; delivers sub-50ms execution and 100% test coverage (pytest).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Integration &amp; APIs: </a:t>
            </a:r>
            <a:r>
              <a:rPr b="0" sz="1100">
                <a:solidFill>
                  <a:srgbClr val="334155"/>
                </a:solidFill>
                <a:latin typeface="Calibri"/>
              </a:rPr>
              <a:t>Autodesk Forma Web SDK, REST JSON payload serialization, and structured Forma verification pipelines.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2. Methodology and Process for Implementation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Stage 1 — Geometry Ingestion: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Ingests 3D massing, parcel boundaries, setback distances, and highway road alignments from Autodesk Forma.</a:t>
            </a:r>
          </a:p>
          <a:p>
            <a:pPr>
              <a:spcBef>
                <a:spcPts val="10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Stage 2 — Deterministic Screening Calculations:</a:t>
            </a:r>
          </a:p>
          <a:p>
            <a:pPr>
              <a:spcBef>
                <a:spcPts val="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050">
                <a:solidFill>
                  <a:srgbClr val="0369A1"/>
                </a:solidFill>
                <a:latin typeface="Calibri"/>
              </a:rPr>
              <a:t>  • • Acoustic Screening: </a:t>
            </a:r>
            <a:r>
              <a:rPr b="0" sz="1050">
                <a:solidFill>
                  <a:srgbClr val="334155"/>
                </a:solidFill>
                <a:latin typeface="Calibri"/>
              </a:rPr>
              <a:t>Calculates line-source geometric decay, Maekawa barrier diffraction based on path-length difference δ = (d₁ + d₂ - d) + 0.1 · d_veg, and vegetative buffer absorption.</a:t>
            </a:r>
          </a:p>
          <a:p>
            <a:pPr>
              <a:spcBef>
                <a:spcPts val="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050">
                <a:solidFill>
                  <a:srgbClr val="0369A1"/>
                </a:solidFill>
                <a:latin typeface="Calibri"/>
              </a:rPr>
              <a:t>  • • Façade Solar Screening: </a:t>
            </a:r>
            <a:r>
              <a:rPr b="0" sz="1050">
                <a:solidFill>
                  <a:srgbClr val="334155"/>
                </a:solidFill>
                <a:latin typeface="Calibri"/>
              </a:rPr>
              <a:t>Computes peak direct irradiance reduction via orientation angle δ_azimuth and louver projection: I_eff = I₀ · cos(θ_inc) · (1 - 0.28 · L_depth).</a:t>
            </a:r>
          </a:p>
          <a:p>
            <a:pPr>
              <a:spcBef>
                <a:spcPts val="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050">
                <a:solidFill>
                  <a:srgbClr val="0369A1"/>
                </a:solidFill>
                <a:latin typeface="Calibri"/>
              </a:rPr>
              <a:t>  • • Stormwater Screening: </a:t>
            </a:r>
            <a:r>
              <a:rPr b="0" sz="1050">
                <a:solidFill>
                  <a:srgbClr val="334155"/>
                </a:solidFill>
                <a:latin typeface="Calibri"/>
              </a:rPr>
              <a:t>Applies the Rational Method Q = (C · I · A) / 360 for peak runoff, 90th percentile design storm sizing V_target = 10 · P_90 · C · A, and SuDS retention sizing.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Stage 3 — Spatial Visualization &amp; Decision Support: </a:t>
            </a:r>
            <a:r>
              <a:rPr b="0" sz="1100">
                <a:solidFill>
                  <a:srgbClr val="334155"/>
                </a:solidFill>
                <a:latin typeface="Calibri"/>
              </a:rPr>
              <a:t>2.5D SVG canvas dynamically renders acoustic sound contours, solar shading vectors, and stormwater retention volumes with instant proposal delta comparison.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Jenisia-Tech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1. Analysis of Feasibility (Technical, Operational &amp; Economic)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Technical Feasibility: </a:t>
            </a:r>
            <a:r>
              <a:rPr b="0" sz="1100">
                <a:solidFill>
                  <a:srgbClr val="334155"/>
                </a:solidFill>
                <a:latin typeface="Calibri"/>
              </a:rPr>
              <a:t>Fully implemented and validated working prototype; uses standard web technologies and lightweight microservices with zero specialized GPU hardware required.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Operational Feasibility: </a:t>
            </a:r>
            <a:r>
              <a:rPr b="0" sz="1100">
                <a:solidFill>
                  <a:srgbClr val="334155"/>
                </a:solidFill>
                <a:latin typeface="Calibri"/>
              </a:rPr>
              <a:t>Sub-50ms execution allows immediate exploratory feedback during live charrettes, client presentations, and municipal review sessions without needing simulation specialists.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Economic Viability: </a:t>
            </a:r>
            <a:r>
              <a:rPr b="0" sz="1100">
                <a:solidFill>
                  <a:srgbClr val="334155"/>
                </a:solidFill>
                <a:latin typeface="Calibri"/>
              </a:rPr>
              <a:t>Zero costly solver licensing for screening; prevents expensive post-construction architectural modifications and civil drainage rework by resolving issues upfront.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2. Potential Challenges and Risks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Risk 1 (Model Scope Misinterpretation): </a:t>
            </a:r>
            <a:r>
              <a:rPr b="0" sz="1100">
                <a:solidFill>
                  <a:srgbClr val="334155"/>
                </a:solidFill>
                <a:latin typeface="Calibri"/>
              </a:rPr>
              <a:t>Users mistakenly treating fast screening approximations as statutory regulatory compliance certifications.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Risk 2 (Complex Geometric Edge-Cases): </a:t>
            </a:r>
            <a:r>
              <a:rPr b="0" sz="1100">
                <a:solidFill>
                  <a:srgbClr val="334155"/>
                </a:solidFill>
                <a:latin typeface="Calibri"/>
              </a:rPr>
              <a:t>Non-linear acoustic canyon reflections or highly irregular multi-parcel site boundaries.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Risk 3 (Forma Sync Latency): </a:t>
            </a:r>
            <a:r>
              <a:rPr b="0" sz="1100">
                <a:solidFill>
                  <a:srgbClr val="334155"/>
                </a:solidFill>
                <a:latin typeface="Calibri"/>
              </a:rPr>
              <a:t>Network serialization overhead during large-scale mesh exchanges between Forma cloud and extension iframe.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3. Strategies for Overcoming Challenges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Clear Boundary Labeling &amp; Verification Checklist: </a:t>
            </a:r>
            <a:r>
              <a:rPr b="0" sz="1100">
                <a:solidFill>
                  <a:srgbClr val="334155"/>
                </a:solidFill>
                <a:latin typeface="Calibri"/>
              </a:rPr>
              <a:t>Prominent UI badges explicitly direct users to Forma's native analyses (Wind, Microclimate, Sun Hours) and EnergyPlus/SWMM for detailed statutory validation.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Empirical Calibration &amp; Safety Factors: </a:t>
            </a:r>
            <a:r>
              <a:rPr b="0" sz="1100">
                <a:solidFill>
                  <a:srgbClr val="334155"/>
                </a:solidFill>
                <a:latin typeface="Calibri"/>
              </a:rPr>
              <a:t>Equations calibrated against ISO 9613-2 and ASHRAE 90.1 empirical benchmarks to ensure dependable screening bounds.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Optimized Client Bounding-Box Serialization: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Client-side geometry simplification, debounced REST endpoints, and local state caching ensure zero-lag slider manipulation.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Jenisia-Tech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</a:p>
          <a:p>
            <a:pPr>
              <a:spcBef>
                <a:spcPts val="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1. Potential Impact on Target Audience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Target Beneficiaries: </a:t>
            </a:r>
            <a:r>
              <a:rPr b="0" sz="1100">
                <a:solidFill>
                  <a:srgbClr val="334155"/>
                </a:solidFill>
                <a:latin typeface="Calibri"/>
              </a:rPr>
              <a:t>Urban Planners, Architects, Municipal Development Authorities (Smart Cities Mission), Environmental Engineers, and Real Estate Developers using Autodesk Forma.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Workflow Acceleration: </a:t>
            </a:r>
            <a:r>
              <a:rPr b="0" sz="1100">
                <a:solidFill>
                  <a:srgbClr val="334155"/>
                </a:solidFill>
                <a:latin typeface="Calibri"/>
              </a:rPr>
              <a:t>Reduces early environmental screening cycle time from 5–10 business days to under 60 seconds per site layout revision.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2. Demonstrated Multi-Hazard Benefits (Karunya Nagar Smart City Benchmark)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Acoustic Relief (Social / Health): </a:t>
            </a:r>
            <a:r>
              <a:rPr b="0" sz="1100">
                <a:solidFill>
                  <a:srgbClr val="334155"/>
                </a:solidFill>
                <a:latin typeface="Calibri"/>
              </a:rPr>
              <a:t>Baseline highway noise reduced from 78.0 dBA down to 62.94 dBA (Improved Exposure, -15.05 dB reduction) via 3.5m berm and 8m vegetative buffer; protects residential wellness along transit corridors.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Solar Thermal Relief (Economic / Energy): </a:t>
            </a:r>
            <a:r>
              <a:rPr b="0" sz="1100">
                <a:solidFill>
                  <a:srgbClr val="334155"/>
                </a:solidFill>
                <a:latin typeface="Calibri"/>
              </a:rPr>
              <a:t>Peak façade solar heat reduced from 710.0 W/m² to 482.8 W/m² (-32.0% solar load relief) via -18° orientation offset and 1.2m louvers; decreases peak HVAC cooling sizing and operational energy by 20–30%.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Stormwater Retention (Environmental / Resilience): </a:t>
            </a:r>
            <a:r>
              <a:rPr b="0" sz="1100">
                <a:solidFill>
                  <a:srgbClr val="334155"/>
                </a:solidFill>
                <a:latin typeface="Calibri"/>
              </a:rPr>
              <a:t>Runoff retention capacity boosted to 82.0% (7,800 m³ retention storage + 644m bioswales), mitigating flash flood and topsoil erosion risks during 50-year monsoon events (I = 65 mm/hr).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Composite Resilience Index Jump: </a:t>
            </a:r>
            <a:r>
              <a:rPr b="0" sz="1100">
                <a:solidFill>
                  <a:srgbClr val="334155"/>
                </a:solidFill>
                <a:latin typeface="Calibri"/>
              </a:rPr>
              <a:t>Overall site resilience score advances from 48 / 100 (Grade D) in Baseline to 87 / 100 (Grade A, +39 point improvement) in Resilient Proposal.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Jenisia-Tech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A365D"/>
                </a:solidFill>
                <a:latin typeface="Calibri"/>
              </a:defRPr>
            </a:pPr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48640" y="1188720"/>
            <a:ext cx="11064240" cy="4937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Bef>
                <a:spcPts val="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1. Authoritative Technical Standards &amp; Literature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Acoustic Engineering: </a:t>
            </a:r>
            <a:r>
              <a:rPr b="0" sz="1100">
                <a:solidFill>
                  <a:srgbClr val="334155"/>
                </a:solidFill>
                <a:latin typeface="Calibri"/>
              </a:rPr>
              <a:t>ISO 9613-2:1996 (Acoustics — Attenuation of sound during propagation outdoors); Maekawa, Z. (1968), Noise reduction by screens, Applied Acoustics, 1(3); CPCB National Ambient Noise Quality Standards (India).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Solar Radiation &amp; Building Physics: </a:t>
            </a:r>
            <a:r>
              <a:rPr b="0" sz="1100">
                <a:solidFill>
                  <a:srgbClr val="334155"/>
                </a:solidFill>
                <a:latin typeface="Calibri"/>
              </a:rPr>
              <a:t>ASHRAE Handbook of Fundamentals (Fenestration Solar Heat Gain &amp; Shading Coefficients); Duffie, J.A. &amp; Beckman, W.A., Solar Engineering of Thermal Processes (Wiley); NBC 2016 (National Building Code of India).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Stormwater Management &amp; SuDS: </a:t>
            </a:r>
            <a:r>
              <a:rPr b="0" sz="1100">
                <a:solidFill>
                  <a:srgbClr val="334155"/>
                </a:solidFill>
                <a:latin typeface="Calibri"/>
              </a:rPr>
              <a:t>MoHUA CPHEEO Manual on Stormwater Drainage Systems (Govt. of India); CIRIA C753 The SuDS Manual (Water Sensitive Urban Design); Rational Method Runoff Peak Flow Equation (Q = C·I·A / 360).</a:t>
            </a:r>
          </a:p>
          <a:p>
            <a:pPr>
              <a:spcBef>
                <a:spcPts val="600"/>
              </a:spcBef>
              <a:spcAft>
                <a:spcPts val="200"/>
              </a:spcAft>
              <a:defRPr>
                <a:latin typeface="Calibri"/>
              </a:defRPr>
            </a:pPr>
            <a:r>
              <a:rPr b="1" sz="1250">
                <a:solidFill>
                  <a:srgbClr val="0E7490"/>
                </a:solidFill>
                <a:latin typeface="Calibri"/>
              </a:rPr>
              <a:t>2. Platform Integration, Benchmark Site &amp; Open Source Repository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Autodesk Forma Developer Platform: </a:t>
            </a:r>
            <a:r>
              <a:rPr b="0" sz="1100">
                <a:solidFill>
                  <a:srgbClr val="334155"/>
                </a:solidFill>
                <a:latin typeface="Calibri"/>
              </a:rPr>
              <a:t>Autodesk Forma Web SDK, Extension Architecture &amp; REST API Documentation (https://aps.autodesk.com).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Demonstration Site Coordinates: </a:t>
            </a:r>
            <a:r>
              <a:rPr b="0" sz="1100">
                <a:solidFill>
                  <a:srgbClr val="334155"/>
                </a:solidFill>
                <a:latin typeface="Calibri"/>
              </a:rPr>
              <a:t>Karunya Nagar Smart City Benchmark, Coimbatore South, Tamil Nadu (10.9366° N, 76.7441° E, 1.2 km² / 120 ha site along NH-544 / Siruvani Road corridor).</a:t>
            </a:r>
          </a:p>
          <a:p>
            <a:pPr>
              <a:spcBef>
                <a:spcPts val="100"/>
              </a:spcBef>
              <a:spcAft>
                <a:spcPts val="400"/>
              </a:spcAft>
              <a:defRPr>
                <a:latin typeface="Calibri"/>
              </a:defRPr>
            </a:pPr>
            <a:r>
              <a:rPr b="1" sz="1100">
                <a:solidFill>
                  <a:srgbClr val="1A365D"/>
                </a:solidFill>
                <a:latin typeface="Calibri"/>
              </a:rPr>
              <a:t>• Open Source Project Repository: </a:t>
            </a:r>
            <a:r>
              <a:rPr b="0" sz="1100">
                <a:solidFill>
                  <a:srgbClr val="334155"/>
                </a:solidFill>
                <a:latin typeface="Calibri"/>
              </a:rPr>
              <a:t>GitHub Codebase: https://github.com/jenisia-tech/ResiliForma (FastAPI Backend + React/TypeScript Frontend with full test suite).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b="1" sz="1100">
                <a:solidFill>
                  <a:srgbClr val="FFFFFF"/>
                </a:solidFill>
                <a:latin typeface="Calibri"/>
              </a:defRPr>
            </a:pPr>
            <a:r>
              <a:t>Jenisia-Tech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