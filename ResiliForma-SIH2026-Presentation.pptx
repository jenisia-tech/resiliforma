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5912" cy="55778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411480" rIns="548640"/>
          <a:lstStyle/>
          <a:p>
            <a:pPr algn="ctr">
              <a:defRPr sz="1050" b="1">
                <a:solidFill>
                  <a:srgbClr val="06B6D4"/>
                </a:solidFill>
              </a:defRPr>
            </a:pPr>
            <a:r>
              <a:t>SMART INDIA HACKATHON 2026 | TECHNICAL IDEA PROPOSAL</a:t>
            </a:r>
          </a:p>
          <a:p>
            <a:pPr>
              <a:spcBef>
                <a:spcPts val="400"/>
              </a:spcBef>
              <a:defRPr sz="3200" b="1">
                <a:solidFill>
                  <a:srgbClr val="F8FAFC"/>
                </a:solidFill>
              </a:defRPr>
            </a:pPr>
            <a:r>
              <a:t>ResiliForma</a:t>
            </a:r>
          </a:p>
          <a:p>
            <a:pPr>
              <a:spcBef>
                <a:spcPts val="200"/>
              </a:spcBef>
              <a:defRPr sz="1500" b="1">
                <a:solidFill>
                  <a:srgbClr val="67E8F9"/>
                </a:solidFill>
              </a:defRPr>
            </a:pPr>
            <a:r>
              <a:t>A Deterministic Multi-Hazard Design Screening Extension for Autodesk Forma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t>ResiliForma provides fast, transparent acoustic, solar and stormwater screening during early-stage site planning using deterministic engineering models and multi-objective heuristic ranking. Autodesk Forma Site Design remains the PRIMARY 3D design platform; ResiliForma operates as a supplementary decision-support extension.</a:t>
            </a:r>
          </a:p>
          <a:p>
            <a:pPr>
              <a:spcBef>
                <a:spcPts val="1200"/>
              </a:spcBef>
              <a:defRPr sz="900">
                <a:solidFill>
                  <a:srgbClr val="1E293B"/>
                </a:solidFill>
              </a:defRPr>
            </a:pPr>
            <a:r>
              <a:t>━━━━━━━━━━━━━━━━━━━━━━━━━━━━━━━━━━━━━━━━━━━━━━━━━━━━━━━━━━━━━━━━━━━━━━━━━━━━━━━━</a:t>
            </a:r>
          </a:p>
          <a:p>
            <a:pPr>
              <a:spcBef>
                <a:spcPts val="600"/>
              </a:spcBef>
              <a:defRPr sz="1000" b="1">
                <a:solidFill>
                  <a:srgbClr val="F8FAFC"/>
                </a:solidFill>
              </a:defRPr>
            </a:pPr>
            <a:r>
              <a:t>Problem Statement ID: SIH26114  |  Title: Smart City Site Planning using Autodesk Forma Site Design  |  Target: Autodesk</a:t>
            </a:r>
          </a:p>
          <a:p>
            <a:pPr>
              <a:spcBef>
                <a:spcPts val="300"/>
              </a:spcBef>
              <a:defRPr sz="950">
                <a:solidFill>
                  <a:srgbClr val="10B981"/>
                </a:solidFill>
              </a:defRPr>
            </a:pPr>
            <a:r>
              <a:t>Demonstration Benchmark: Karunya Nagar Smart City Sector (1.2 km² / 120 ha), Coimbatore South, Tamil Nadu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Team Lead: Chris David Raj A  |  Members: Jenisia Mary, Harry Joseph, Chandy N Jomon, Jeffrey, Kenrich Gladson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Institution: Karunya Institute of Technology and Sciences, Coimbatore, Tamil Nadu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EMPIRICAL PLANNING HAZARDS</a:t>
            </a:r>
          </a:p>
          <a:p>
            <a:pPr>
              <a:spcBef>
                <a:spcPts val="300"/>
              </a:spcBef>
              <a:defRPr sz="1800" b="1">
                <a:solidFill>
                  <a:srgbClr val="F8FAFC"/>
                </a:solidFill>
              </a:defRPr>
            </a:pPr>
            <a:r>
              <a:t>Early-Stage Site Hazards: Road Noise, Solar Exposure &amp; Stormwater Runoff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ResiliForma • Deterministic Multi-Hazard Screening Extension • Problem Statement ID: SIH26114 (Autodesk Forma)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74320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1. Road Traffic Noise</a:t>
            </a:r>
          </a:p>
          <a:p>
            <a:pPr>
              <a:spcBef>
                <a:spcPts val="200"/>
              </a:spcBef>
              <a:defRPr sz="950" b="1">
                <a:solidFill>
                  <a:srgbClr val="94A3B8"/>
                </a:solidFill>
              </a:defRPr>
            </a:pPr>
            <a:r>
              <a:t>Arterial Transit Corridors</a:t>
            </a:r>
          </a:p>
          <a:p>
            <a:pPr>
              <a:spcBef>
                <a:spcPts val="400"/>
              </a:spcBef>
              <a:defRPr sz="700">
                <a:solidFill>
                  <a:srgbClr val="1E293B"/>
                </a:solidFill>
              </a:defRPr>
            </a:pPr>
            <a:r>
              <a:t>━━━━━━━━━━━━━━━━━━━━━━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</a:defRPr>
            </a:pPr>
            <a:r>
              <a:t>Empirical Condition: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Heavy highway traffic (e.g. NH-544 / Siruvani Road) produces 78–82 dBA at parcel frontages.</a:t>
            </a:r>
          </a:p>
          <a:p>
            <a:pPr>
              <a:spcBef>
                <a:spcPts val="800"/>
              </a:spcBef>
              <a:defRPr sz="950" b="1">
                <a:solidFill>
                  <a:srgbClr val="F8FAFC"/>
                </a:solidFill>
              </a:defRPr>
            </a:pPr>
            <a:r>
              <a:t>Environmental Penalty: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Substantially exceeds CPCB residential daytime limit of 55 dBA, causing health and acoustic stress.</a:t>
            </a:r>
          </a:p>
          <a:p>
            <a:pPr>
              <a:spcBef>
                <a:spcPts val="800"/>
              </a:spcBef>
              <a:defRPr sz="950" b="1">
                <a:solidFill>
                  <a:srgbClr val="F8FAFC"/>
                </a:solidFill>
              </a:defRPr>
            </a:pPr>
            <a:r>
              <a:t>Early-Stage Challenge: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Standard conceptual CAD tools lack fast barrier diffraction &amp; tree buffer screening to guide frontage setbacks.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371600"/>
            <a:ext cx="34290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7432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2. Façade Solar Exposure</a:t>
            </a:r>
          </a:p>
          <a:p>
            <a:pPr>
              <a:spcBef>
                <a:spcPts val="200"/>
              </a:spcBef>
              <a:defRPr sz="950" b="1">
                <a:solidFill>
                  <a:srgbClr val="94A3B8"/>
                </a:solidFill>
              </a:defRPr>
            </a:pPr>
            <a:r>
              <a:t>Tropical Afternoon Thermal Glare</a:t>
            </a:r>
          </a:p>
          <a:p>
            <a:pPr>
              <a:spcBef>
                <a:spcPts val="400"/>
              </a:spcBef>
              <a:defRPr sz="700">
                <a:solidFill>
                  <a:srgbClr val="1E293B"/>
                </a:solidFill>
              </a:defRPr>
            </a:pPr>
            <a:r>
              <a:t>━━━━━━━━━━━━━━━━━━━━━━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</a:defRPr>
            </a:pPr>
            <a:r>
              <a:t>Empirical Condition: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Unoptimized building orientations expose western glazing to direct solar radiation (&gt;700 W/m²).</a:t>
            </a:r>
          </a:p>
          <a:p>
            <a:pPr>
              <a:spcBef>
                <a:spcPts val="800"/>
              </a:spcBef>
              <a:defRPr sz="950" b="1">
                <a:solidFill>
                  <a:srgbClr val="F8FAFC"/>
                </a:solidFill>
              </a:defRPr>
            </a:pPr>
            <a:r>
              <a:t>Environmental Penalty: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Drives peak cooling HVAC energy demands up by 30%+ and amplifies urban microclimate heat islands.</a:t>
            </a:r>
          </a:p>
          <a:p>
            <a:pPr>
              <a:spcBef>
                <a:spcPts val="800"/>
              </a:spcBef>
              <a:defRPr sz="950" b="1">
                <a:solidFill>
                  <a:srgbClr val="F8FAFC"/>
                </a:solidFill>
              </a:defRPr>
            </a:pPr>
            <a:r>
              <a:t>Early-Stage Challenge: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Detailed Radiance/CFD simulations take hours, meaning massing azimuths are locked in unshaded.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371600"/>
            <a:ext cx="34290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74320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3. Stormwater Runoff</a:t>
            </a:r>
          </a:p>
          <a:p>
            <a:pPr>
              <a:spcBef>
                <a:spcPts val="200"/>
              </a:spcBef>
              <a:defRPr sz="950" b="1">
                <a:solidFill>
                  <a:srgbClr val="94A3B8"/>
                </a:solidFill>
              </a:defRPr>
            </a:pPr>
            <a:r>
              <a:t>Monsoon Impervious Disruption</a:t>
            </a:r>
          </a:p>
          <a:p>
            <a:pPr>
              <a:spcBef>
                <a:spcPts val="400"/>
              </a:spcBef>
              <a:defRPr sz="700">
                <a:solidFill>
                  <a:srgbClr val="1E293B"/>
                </a:solidFill>
              </a:defRPr>
            </a:pPr>
            <a:r>
              <a:t>━━━━━━━━━━━━━━━━━━━━━━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</a:defRPr>
            </a:pPr>
            <a:r>
              <a:t>Empirical Condition: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Post-development site imperviousness increases runoff coefficient from baseline C=0.30 to C=0.85.</a:t>
            </a:r>
          </a:p>
          <a:p>
            <a:pPr>
              <a:spcBef>
                <a:spcPts val="800"/>
              </a:spcBef>
              <a:defRPr sz="950" b="1">
                <a:solidFill>
                  <a:srgbClr val="F8FAFC"/>
                </a:solidFill>
              </a:defRPr>
            </a:pPr>
            <a:r>
              <a:t>Environmental Penalty: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Produces 3.23 m³/s peak runoff during 65 mm/hr monsoon storms over 21.04 ha catchments.</a:t>
            </a:r>
          </a:p>
          <a:p>
            <a:pPr>
              <a:spcBef>
                <a:spcPts val="800"/>
              </a:spcBef>
              <a:defRPr sz="950" b="1">
                <a:solidFill>
                  <a:srgbClr val="F8FAFC"/>
                </a:solidFill>
              </a:defRPr>
            </a:pPr>
            <a:r>
              <a:t>Early-Stage Challenge: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Drainage swales and retention basins are typically designed post-facto rather than integrated upfront.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TECHNICAL DATA FLOW</a:t>
            </a:r>
          </a:p>
          <a:p>
            <a:pPr>
              <a:spcBef>
                <a:spcPts val="300"/>
              </a:spcBef>
              <a:defRPr sz="1800" b="1">
                <a:solidFill>
                  <a:srgbClr val="F8FAFC"/>
                </a:solidFill>
              </a:defRPr>
            </a:pPr>
            <a:r>
              <a:t>How ResiliForma Works: Architecture &amp; 7-Step Workflow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ResiliForma • Deterministic Multi-Hazard Screening Extension • Problem Statement ID: SIH26114 (Autodesk Forma)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23744" cy="32918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2860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Layer 1: Autodesk Forma</a:t>
            </a:r>
          </a:p>
          <a:p>
            <a:pPr>
              <a:spcBef>
                <a:spcPts val="200"/>
              </a:spcBef>
              <a:defRPr sz="850" b="1">
                <a:solidFill>
                  <a:srgbClr val="94A3B8"/>
                </a:solidFill>
              </a:defRPr>
            </a:pPr>
            <a:r>
              <a:t>Primary Site Design</a:t>
            </a:r>
          </a:p>
          <a:p>
            <a:pPr>
              <a:spcBef>
                <a:spcPts val="300"/>
              </a:spcBef>
              <a:defRPr sz="600">
                <a:solidFill>
                  <a:srgbClr val="1E293B"/>
                </a:solidFill>
              </a:defRPr>
            </a:pPr>
            <a:r>
              <a:t>━━━━━━━━━━━━━━━━━</a:t>
            </a:r>
          </a:p>
          <a:p>
            <a:pPr>
              <a:spcBef>
                <a:spcPts val="600"/>
              </a:spcBef>
              <a:defRPr sz="850">
                <a:solidFill>
                  <a:srgbClr val="F8FAFC"/>
                </a:solidFill>
              </a:defRPr>
            </a:pPr>
            <a:r>
              <a:t>• Authors 3D building masses</a:t>
            </a:r>
            <a:br/>
            <a:r>
              <a:t>• Terrain &amp; road boundaries</a:t>
            </a:r>
            <a:br/>
            <a:r>
              <a:t>• Native daylight &amp; carbon analytics</a:t>
            </a:r>
            <a:br/>
            <a:r>
              <a:t>• Primary smart city CAD 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371600"/>
            <a:ext cx="2523744" cy="32918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28600"/>
          <a:lstStyle/>
          <a:p>
            <a:pPr algn="ctr">
              <a:defRPr sz="1100" b="1">
                <a:solidFill>
                  <a:srgbClr val="8B5CF6"/>
                </a:solidFill>
              </a:defRPr>
            </a:pPr>
            <a:r>
              <a:t>Layer 2: Forma Adapter</a:t>
            </a:r>
          </a:p>
          <a:p>
            <a:pPr>
              <a:spcBef>
                <a:spcPts val="200"/>
              </a:spcBef>
              <a:defRPr sz="850" b="1">
                <a:solidFill>
                  <a:srgbClr val="94A3B8"/>
                </a:solidFill>
              </a:defRPr>
            </a:pPr>
            <a:r>
              <a:t>TypeScript IFormaAdapter</a:t>
            </a:r>
          </a:p>
          <a:p>
            <a:pPr>
              <a:spcBef>
                <a:spcPts val="300"/>
              </a:spcBef>
              <a:defRPr sz="600">
                <a:solidFill>
                  <a:srgbClr val="1E293B"/>
                </a:solidFill>
              </a:defRPr>
            </a:pPr>
            <a:r>
              <a:t>━━━━━━━━━━━━━━━━━</a:t>
            </a:r>
          </a:p>
          <a:p>
            <a:pPr>
              <a:spcBef>
                <a:spcPts val="600"/>
              </a:spcBef>
              <a:defRPr sz="850">
                <a:solidFill>
                  <a:srgbClr val="F8FAFC"/>
                </a:solidFill>
              </a:defRPr>
            </a:pPr>
            <a:r>
              <a:t>• Extracts normalized site JSON</a:t>
            </a:r>
            <a:br/>
            <a:r>
              <a:t>• Reads frontage noise traffic</a:t>
            </a:r>
            <a:br/>
            <a:r>
              <a:t>• Handshakes via Web SDK iframe</a:t>
            </a:r>
            <a:br/>
            <a:r>
              <a:t>• Zero-dependency demo fallback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371600"/>
            <a:ext cx="2523744" cy="32918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28600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Layer 3: FastAPI Backend</a:t>
            </a:r>
          </a:p>
          <a:p>
            <a:pPr>
              <a:spcBef>
                <a:spcPts val="200"/>
              </a:spcBef>
              <a:defRPr sz="850" b="1">
                <a:solidFill>
                  <a:srgbClr val="94A3B8"/>
                </a:solidFill>
              </a:defRPr>
            </a:pPr>
            <a:r>
              <a:t>Python 3.11 Solver Engine</a:t>
            </a:r>
          </a:p>
          <a:p>
            <a:pPr>
              <a:spcBef>
                <a:spcPts val="300"/>
              </a:spcBef>
              <a:defRPr sz="600">
                <a:solidFill>
                  <a:srgbClr val="1E293B"/>
                </a:solidFill>
              </a:defRPr>
            </a:pPr>
            <a:r>
              <a:t>━━━━━━━━━━━━━━━━━</a:t>
            </a:r>
          </a:p>
          <a:p>
            <a:pPr>
              <a:spcBef>
                <a:spcPts val="600"/>
              </a:spcBef>
              <a:defRPr sz="850">
                <a:solidFill>
                  <a:srgbClr val="F8FAFC"/>
                </a:solidFill>
              </a:defRPr>
            </a:pPr>
            <a:r>
              <a:t>• Fast asynchronous REST API</a:t>
            </a:r>
            <a:br/>
            <a:r>
              <a:t>• Pydantic v2 schema validation</a:t>
            </a:r>
            <a:br/>
            <a:r>
              <a:t>• ISO 9613-2 acoustic diffraction</a:t>
            </a:r>
            <a:br/>
            <a:r>
              <a:t>• Rational Method stormwater SuDS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371600"/>
            <a:ext cx="2523744" cy="32918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2860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Layer 4: Dashboard &amp; Revit</a:t>
            </a:r>
          </a:p>
          <a:p>
            <a:pPr>
              <a:spcBef>
                <a:spcPts val="200"/>
              </a:spcBef>
              <a:defRPr sz="850" b="1">
                <a:solidFill>
                  <a:srgbClr val="94A3B8"/>
                </a:solidFill>
              </a:defRPr>
            </a:pPr>
            <a:r>
              <a:t>Decision Support Handshake</a:t>
            </a:r>
          </a:p>
          <a:p>
            <a:pPr>
              <a:spcBef>
                <a:spcPts val="300"/>
              </a:spcBef>
              <a:defRPr sz="600">
                <a:solidFill>
                  <a:srgbClr val="1E293B"/>
                </a:solidFill>
              </a:defRPr>
            </a:pPr>
            <a:r>
              <a:t>━━━━━━━━━━━━━━━━━</a:t>
            </a:r>
          </a:p>
          <a:p>
            <a:pPr>
              <a:spcBef>
                <a:spcPts val="600"/>
              </a:spcBef>
              <a:defRPr sz="850">
                <a:solidFill>
                  <a:srgbClr val="F8FAFC"/>
                </a:solidFill>
              </a:defRPr>
            </a:pPr>
            <a:r>
              <a:t>• 2.5D SVG interactive canvas</a:t>
            </a:r>
            <a:br/>
            <a:r>
              <a:t>• Real-time parameter exploration</a:t>
            </a:r>
            <a:br/>
            <a:r>
              <a:t>• Forma Board proposal comparison</a:t>
            </a:r>
            <a:br/>
            <a:r>
              <a:t>• Exports to detailed Revit BIM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725912" cy="1417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67E8F9"/>
                </a:solidFill>
              </a:defRPr>
            </a:pPr>
            <a:r>
              <a:t>7-Step End-to-End Decision Pipeline: From Conceptual Sketching to Detailed BIM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 Author in Forma (3D Massing) ➔ 2. Extract Context (IFormaAdapter) ➔ 3. Screen Multi-Hazards (FastAPI) ➔ 4. Explore Sliders (Interactive Canvas) ➔ 5. Compare Baseline vs Resilient ➔ 6. Select Climate-Resilient Strategy ➔ 7. Handshake to Forma Board &amp; Revit BIM.</a:t>
            </a:r>
          </a:p>
          <a:p>
            <a:pPr>
              <a:spcBef>
                <a:spcPts val="300"/>
              </a:spcBef>
              <a:defRPr sz="850">
                <a:solidFill>
                  <a:srgbClr val="10B981"/>
                </a:solidFill>
              </a:defRPr>
            </a:pPr>
            <a:r>
              <a:t>• Forma Native Verification: 8/8 Forma native analyses (Area Metrics, Embodied Carbon, Sun Hours, Daylight, Wind, Microclimate, Noise, Solar Energy) remain authoritative.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PROTOTYPE IMPLEMENTATION</a:t>
            </a:r>
          </a:p>
          <a:p>
            <a:pPr>
              <a:spcBef>
                <a:spcPts val="300"/>
              </a:spcBef>
              <a:defRPr sz="1800" b="1">
                <a:solidFill>
                  <a:srgbClr val="F8FAFC"/>
                </a:solidFill>
              </a:defRPr>
            </a:pPr>
            <a:r>
              <a:t>Working Prototype: Interactive Spatial Canvas &amp; Design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ResiliForma • Deterministic Multi-Hazard Screening Extension • Problem Statement ID: SIH26114 (Autodesk Forma)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Interactive Spatial Canvas &amp; UI Features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Interactive 2.5D SVG Spatial Canvas: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Visualizes 26 building parcels, NH-544 arterial road noise emitter, acoustic berm thickness, native tree buffer, bioswales, and retention basin with parcel tooltips.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Dynamic Parameter Sliders: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Allows planners to adjust acoustic barrier height (0–5m), vegetation depth (0–16m), louver depth (0–2m), orientation azimuth (-30° to +30°), and rainfall intensity (40–100 mm/hr).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Live Multi-Hazard Screening Panels: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Displays real-time before/after noise dBA, solar façade irradiance (W/m²), Rational peak runoff (Q_peak), and water-routing process diagram.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One-Click Proposal Switching: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Instant toggling between Baseline Proposal (Grade D: 48) and Resilient Proposal (Grade A: 87) with immediate visual and analytical updates.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371600"/>
            <a:ext cx="52578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Deterministic Formulations &amp; Integration Rigor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Acoustic Screening Formula: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Optimized Noise = Baseline (78 dBA) - min(18, h_barrier × 3.1) - min(8, (d_veg / 8) × 4.2). Yields 62.94 dBA (~15 dB reduction).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Solar Irradiance Screening Formula: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Total Relief % = min(45, |θ| × 0.45 + 12 + (d_louver / 1.2) × 11.9). Yields 32% reduction (482.8 W/m² vs 710 W/m²).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Stormwater Rational Method: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Q_peak = 0.278 × C × I × A = 3.23 m³/s (C=0.85, I=65 mm/hr, A=21.04 ha). SuDS sizing (644m swales + 7,800 m³ basin) achieves 82% retention.</a:t>
            </a:r>
          </a:p>
          <a:p>
            <a:pPr>
              <a:spcBef>
                <a:spcPts val="700"/>
              </a:spcBef>
              <a:defRPr sz="950" b="1">
                <a:solidFill>
                  <a:srgbClr val="F8FAFC"/>
                </a:solidFill>
              </a:defRPr>
            </a:pPr>
            <a:r>
              <a:t>Automated Quality Assurance: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15 Pytest unit and integration tests validate all mathematical caps, physical bounds, and API endpoints with 100% pass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EMPIRICAL MODELING RESULTS</a:t>
            </a:r>
          </a:p>
          <a:p>
            <a:pPr>
              <a:spcBef>
                <a:spcPts val="300"/>
              </a:spcBef>
              <a:defRPr sz="1800" b="1">
                <a:solidFill>
                  <a:srgbClr val="F8FAFC"/>
                </a:solidFill>
              </a:defRPr>
            </a:pPr>
            <a:r>
              <a:t>Prototype Benchmark: Modeled Performance on Karunya Nagar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ResiliForma • Deterministic Multi-Hazard Screening Extension • Problem Statement ID: SIH26114 (Autodesk Forma)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23744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RESILIENCE SCORE</a:t>
            </a:r>
          </a:p>
          <a:p>
            <a:pPr>
              <a:spcBef>
                <a:spcPts val="200"/>
              </a:spcBef>
              <a:defRPr sz="2200" b="1">
                <a:solidFill>
                  <a:srgbClr val="10B981"/>
                </a:solidFill>
              </a:defRPr>
            </a:pPr>
            <a:r>
              <a:t>87 / 100</a:t>
            </a:r>
          </a:p>
          <a:p>
            <a:pPr>
              <a:spcBef>
                <a:spcPts val="100"/>
              </a:spcBef>
              <a:defRPr sz="950" b="1">
                <a:solidFill>
                  <a:srgbClr val="F8FAFC"/>
                </a:solidFill>
              </a:defRPr>
            </a:pPr>
            <a:r>
              <a:t>GRADE A (+39 pts)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Baseline: 48 / 100 (Grade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371600"/>
            <a:ext cx="2523744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ROAD TRAFFIC NOISE</a:t>
            </a:r>
          </a:p>
          <a:p>
            <a:pPr>
              <a:spcBef>
                <a:spcPts val="200"/>
              </a:spcBef>
              <a:defRPr sz="2200" b="1">
                <a:solidFill>
                  <a:srgbClr val="06B6D4"/>
                </a:solidFill>
              </a:defRPr>
            </a:pPr>
            <a:r>
              <a:t>-15.05 dB</a:t>
            </a:r>
          </a:p>
          <a:p>
            <a:pPr>
              <a:spcBef>
                <a:spcPts val="100"/>
              </a:spcBef>
              <a:defRPr sz="950" b="1">
                <a:solidFill>
                  <a:srgbClr val="F8FAFC"/>
                </a:solidFill>
              </a:defRPr>
            </a:pPr>
            <a:r>
              <a:t>62.94 dBA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Improved Exposure (&lt; 65 dBA)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371600"/>
            <a:ext cx="2523744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FAÇADE SOLAR RELIEF</a:t>
            </a:r>
          </a:p>
          <a:p>
            <a:pPr>
              <a:spcBef>
                <a:spcPts val="200"/>
              </a:spcBef>
              <a:defRPr sz="2200" b="1">
                <a:solidFill>
                  <a:srgbClr val="F59E0B"/>
                </a:solidFill>
              </a:defRPr>
            </a:pPr>
            <a:r>
              <a:t>-32.0%</a:t>
            </a:r>
          </a:p>
          <a:p>
            <a:pPr>
              <a:spcBef>
                <a:spcPts val="100"/>
              </a:spcBef>
              <a:defRPr sz="950" b="1">
                <a:solidFill>
                  <a:srgbClr val="F8FAFC"/>
                </a:solidFill>
              </a:defRPr>
            </a:pPr>
            <a:r>
              <a:t>482.8 W/m²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Baseline: 710 W/m² (-18° &amp; 1.2m)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371600"/>
            <a:ext cx="2523744" cy="1920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STORMWATER SUDS</a:t>
            </a:r>
          </a:p>
          <a:p>
            <a:pPr>
              <a:spcBef>
                <a:spcPts val="200"/>
              </a:spcBef>
              <a:defRPr sz="2200" b="1">
                <a:solidFill>
                  <a:srgbClr val="8B5CF6"/>
                </a:solidFill>
              </a:defRPr>
            </a:pPr>
            <a:r>
              <a:t>82.0%</a:t>
            </a:r>
          </a:p>
          <a:p>
            <a:pPr>
              <a:spcBef>
                <a:spcPts val="100"/>
              </a:spcBef>
              <a:defRPr sz="950" b="1">
                <a:solidFill>
                  <a:srgbClr val="F8FAFC"/>
                </a:solidFill>
              </a:defRPr>
            </a:pPr>
            <a:r>
              <a:t>Retained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644m swales &amp; 7,800 m³ basin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10725912" cy="27432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50" b="1">
                <a:solidFill>
                  <a:srgbClr val="67E8F9"/>
                </a:solidFill>
              </a:defRPr>
            </a:pPr>
            <a:r>
              <a:t>Baseline vs. Resilient Proposal Comparison Summary (Karunya Nagar 1.2 km² Demonstration Site)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• Façade Orientation: Baseline 0° (Direct West) ➔ Resilient -18° Azimuth Deflection (-20.1% solar relief)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• Acoustic Mitigation: Baseline None (78 dBA) ➔ Resilient 3.5m Earth Berm + 8m Tree Buffer (62.94 dBA, Improved Exposure, -15.05 dB)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• Façade Shading: Baseline Unshaded (710 W/m²) ➔ Resilient 1.2m Horizontal Louvers (482.8 W/m², 32% total drop)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• SuDS Drainage: Baseline None (10% retention) ➔ Resilient 644m Bioswales + 7,800 m³ Pond (82.0% runoff management)</a:t>
            </a:r>
          </a:p>
          <a:p>
            <a:pPr>
              <a:spcBef>
                <a:spcPts val="300"/>
              </a:spcBef>
              <a:defRPr sz="900">
                <a:solidFill>
                  <a:srgbClr val="F8FAFC"/>
                </a:solidFill>
              </a:defRPr>
            </a:pPr>
            <a:r>
              <a:t>• Composite Resilience: Baseline 48 / 100 (Grade D — Vulnerable) ➔ Resilient 87 / 100 (Grade A — Resilient, +39 Point Gain)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SCOPE &amp; ROADMAP</a:t>
            </a:r>
          </a:p>
          <a:p>
            <a:pPr>
              <a:spcBef>
                <a:spcPts val="300"/>
              </a:spcBef>
              <a:defRPr sz="1800" b="1">
                <a:solidFill>
                  <a:srgbClr val="F8FAFC"/>
                </a:solidFill>
              </a:defRPr>
            </a:pPr>
            <a:r>
              <a:t>Scope, Model Boundaries &amp; Phased Engineering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ResiliForma • Deterministic Multi-Hazard Screening Extension • Problem Statement ID: SIH26114 (Autodesk Forma)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Scope, Boundaries &amp; Disclaimers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ResiliForma is an early-stage screening co-pilot for Autodesk Forma. Its deterministic models provide rapid comparative estimates and do not replace certified engineering simulations.</a:t>
            </a:r>
          </a:p>
          <a:p>
            <a:pPr>
              <a:spcBef>
                <a:spcPts val="500"/>
              </a:spcBef>
              <a:defRPr sz="900" b="1">
                <a:solidFill>
                  <a:srgbClr val="F8FAFC"/>
                </a:solidFill>
              </a:defRPr>
            </a:pPr>
            <a:r>
              <a:t>Acoustic Boundary: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Provides geometric diffraction &amp; vegetation absorption screening. Full 3D wave ray-tracing remains in Autodesk Forma / specialized acoustic software.</a:t>
            </a:r>
          </a:p>
          <a:p>
            <a:pPr>
              <a:spcBef>
                <a:spcPts val="500"/>
              </a:spcBef>
              <a:defRPr sz="900" b="1">
                <a:solidFill>
                  <a:srgbClr val="F8FAFC"/>
                </a:solidFill>
              </a:defRPr>
            </a:pPr>
            <a:r>
              <a:t>Solar Boundary: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Calculates peak direct envelope irradiance relief from orientation and louvers. Annual dynamic HVAC/energy modeling remains verified in Revit / EnergyPlus.</a:t>
            </a:r>
          </a:p>
          <a:p>
            <a:pPr>
              <a:spcBef>
                <a:spcPts val="500"/>
              </a:spcBef>
              <a:defRPr sz="900" b="1">
                <a:solidFill>
                  <a:srgbClr val="F8FAFC"/>
                </a:solidFill>
              </a:defRPr>
            </a:pPr>
            <a:r>
              <a:t>Stormwater Boundary: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Applies the lumped Rational Method and SuDS retention volume sizing. 2D hydrodynamic flood simulations remain verified in EPA SWMM / HEC-RAS.</a:t>
            </a:r>
          </a:p>
          <a:p>
            <a:pPr>
              <a:spcBef>
                <a:spcPts val="500"/>
              </a:spcBef>
              <a:defRPr sz="900" b="1">
                <a:solidFill>
                  <a:srgbClr val="F8FAFC"/>
                </a:solidFill>
              </a:defRPr>
            </a:pPr>
            <a:r>
              <a:t>Forma Board Workflow: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</a:defRPr>
            </a:pPr>
            <a:r>
              <a:t>Final multi-proposal spatial decision presentation is aligned with Autodesk Forma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371600"/>
            <a:ext cx="5257800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Development Status &amp; Phased Roadmap</a:t>
            </a:r>
          </a:p>
          <a:p>
            <a:pPr>
              <a:spcBef>
                <a:spcPts val="600"/>
              </a:spcBef>
              <a:defRPr sz="900" b="1">
                <a:solidFill>
                  <a:srgbClr val="F8FAFC"/>
                </a:solidFill>
              </a:defRPr>
            </a:pPr>
            <a:r>
              <a:t>Current Hackathon Prototype (Implemented &amp; Tested):</a:t>
            </a:r>
          </a:p>
          <a:p>
            <a:pPr>
              <a:spcBef>
                <a:spcPts val="100"/>
              </a:spcBef>
              <a:defRPr sz="800">
                <a:solidFill>
                  <a:srgbClr val="94A3B8"/>
                </a:solidFill>
              </a:defRPr>
            </a:pPr>
            <a:r>
              <a:t>• FastAPI deterministic screening engine with 15 passing Pytest cases</a:t>
            </a:r>
            <a:br/>
            <a:r>
              <a:t>• React 18 / TypeScript interactive 2.5D SVG spatial dashboard</a:t>
            </a:r>
            <a:br/>
            <a:r>
              <a:t>• Zero-credential Demo Mode with Karunya Nagar 1.2 km² dataset</a:t>
            </a:r>
            <a:br/>
            <a:r>
              <a:t>• Forma Adapter architecture ready for iframe extension deployment</a:t>
            </a:r>
          </a:p>
          <a:p>
            <a:pPr>
              <a:spcBef>
                <a:spcPts val="600"/>
              </a:spcBef>
              <a:defRPr sz="900" b="1">
                <a:solidFill>
                  <a:srgbClr val="F8FAFC"/>
                </a:solidFill>
              </a:defRPr>
            </a:pPr>
            <a:r>
              <a:t>Phase 2: Live SDK Bridges (Months 1–3 Future):</a:t>
            </a:r>
          </a:p>
          <a:p>
            <a:pPr>
              <a:spcBef>
                <a:spcPts val="100"/>
              </a:spcBef>
              <a:defRPr sz="800">
                <a:solidFill>
                  <a:srgbClr val="94A3B8"/>
                </a:solidFill>
              </a:defRPr>
            </a:pPr>
            <a:r>
              <a:t>• Live two-way geometry handshake via Autodesk Forma Web SDK</a:t>
            </a:r>
            <a:br/>
            <a:r>
              <a:t>• Microclimate wind comfort &amp; EnergyPlus solar validation bridges</a:t>
            </a:r>
            <a:br/>
            <a:r>
              <a:t>• Custom site polygon GeoJSON import &amp; automated parcel subdivision</a:t>
            </a:r>
          </a:p>
          <a:p>
            <a:pPr>
              <a:spcBef>
                <a:spcPts val="600"/>
              </a:spcBef>
              <a:defRPr sz="900" b="1">
                <a:solidFill>
                  <a:srgbClr val="F8FAFC"/>
                </a:solidFill>
              </a:defRPr>
            </a:pPr>
            <a:r>
              <a:t>Phase 3: Production &amp; App Store Submission (Months 4–6 Future):</a:t>
            </a:r>
          </a:p>
          <a:p>
            <a:pPr>
              <a:spcBef>
                <a:spcPts val="100"/>
              </a:spcBef>
              <a:defRPr sz="800">
                <a:solidFill>
                  <a:srgbClr val="94A3B8"/>
                </a:solidFill>
              </a:defRPr>
            </a:pPr>
            <a:r>
              <a:t>• Autodesk Platform Services (APS) security &amp; compliance review</a:t>
            </a:r>
            <a:br/>
            <a:r>
              <a:t>• Official Autodesk Forma App Store extension submission</a:t>
            </a:r>
            <a:br/>
            <a:r>
              <a:t>• Smart City municipal pilot deployments across Tamil Nadu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